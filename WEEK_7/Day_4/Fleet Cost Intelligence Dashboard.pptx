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9E08BA-E278-48BF-97EA-782A937E01AE}" v="5" dt="2026-03-23T01:10:03.190"/>
    <p1510:client id="{478FEE5B-2301-4C25-9831-4B330491C665}" v="57" dt="2026-03-23T11:17:56.594"/>
    <p1510:client id="{5C600284-D709-4CE3-ABA9-341E811AB9FD}" v="2" dt="2026-03-23T01:29:06.477"/>
    <p1510:client id="{97F45E18-DD8C-4C91-9967-8A7036F04FBD}" v="149" dt="2026-03-23T00:04:55.5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 1 net saving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UC1 — Fuel dashboard</c:v>
                </c:pt>
                <c:pt idx="1">
                  <c:v>UC2 — Ops alerts</c:v>
                </c:pt>
                <c:pt idx="2">
                  <c:v>UC3 — AI insights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33380</c:v>
                </c:pt>
                <c:pt idx="1">
                  <c:v>3100</c:v>
                </c:pt>
                <c:pt idx="2">
                  <c:v>19200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B8-4189-B553-77FCC434B6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Setup cost</c:v>
                </c:pt>
              </c:strCache>
            </c:strRef>
          </c:tx>
          <c:spPr>
            <a:solidFill>
              <a:srgbClr val="534AB7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UC1 — Fuel dashboard</c:v>
                </c:pt>
                <c:pt idx="1">
                  <c:v>UC2 — Ops alerts</c:v>
                </c:pt>
                <c:pt idx="2">
                  <c:v>UC3 — AI insights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10000</c:v>
                </c:pt>
                <c:pt idx="1">
                  <c:v>2500</c:v>
                </c:pt>
                <c:pt idx="2">
                  <c:v>7500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B8-4189-B553-77FCC434B6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42377-916F-492A-9E83-DB42C8A9C9AA}" type="datetimeFigureOut"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207F94-0CBA-4549-985C-A63F9D7B636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48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D9E75"/>
                </a:solidFill>
              </a:rPr>
              <a:t>SILVERTRUST AI CONSULTING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Fleet Cost Intelligence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D9E75"/>
                </a:solidFill>
              </a:rPr>
              <a:t>Dashboard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32461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8B949E"/>
                </a:solidFill>
              </a:rPr>
              <a:t>AI-powered fuel anomaly detection for regional haulage SME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75120" y="914400"/>
            <a:ext cx="21945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914400"/>
            <a:ext cx="64008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005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50 trucks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12280" y="14813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Fleet size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2194560"/>
            <a:ext cx="21945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2194560"/>
            <a:ext cx="64008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</a:rPr>
              <a:t>€850k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12280" y="2761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Annual fuel spend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3474720"/>
            <a:ext cx="21945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3474720"/>
            <a:ext cx="64008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566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178%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40416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Year 1 ROI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46652" y="4160520"/>
            <a:ext cx="2926080" cy="594360"/>
          </a:xfrm>
          <a:prstGeom prst="rect">
            <a:avLst/>
          </a:prstGeom>
          <a:solidFill>
            <a:srgbClr val="1D9E75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4206240"/>
            <a:ext cx="777240" cy="548640"/>
          </a:xfrm>
          <a:prstGeom prst="rect">
            <a:avLst/>
          </a:prstGeom>
          <a:solidFill>
            <a:srgbClr val="085041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4114800"/>
            <a:ext cx="4572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9472" y="4224528"/>
            <a:ext cx="256032" cy="256032"/>
          </a:xfrm>
          <a:prstGeom prst="rect">
            <a:avLst/>
          </a:prstGeom>
          <a:solidFill>
            <a:srgbClr val="9FE1CB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0288" y="4672584"/>
            <a:ext cx="274320" cy="27432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72584" y="4754880"/>
            <a:ext cx="109728" cy="109728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672584"/>
            <a:ext cx="274320" cy="27432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8776" y="4754880"/>
            <a:ext cx="109728" cy="109728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0840" y="4672584"/>
            <a:ext cx="274320" cy="27432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03136" y="4754880"/>
            <a:ext cx="109728" cy="109728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09560" y="4160520"/>
            <a:ext cx="0" cy="594360"/>
          </a:xfrm>
          <a:prstGeom prst="line">
            <a:avLst/>
          </a:prstGeom>
          <a:noFill/>
          <a:ln w="12700">
            <a:solidFill>
              <a:srgbClr val="0F6E5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977640"/>
            <a:ext cx="64008" cy="25603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3712" y="4325112"/>
            <a:ext cx="91440" cy="73152"/>
          </a:xfrm>
          <a:prstGeom prst="ellipse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4965192"/>
            <a:ext cx="41148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95415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6490" y="497243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B949E"/>
                </a:solidFill>
              </a:rPr>
              <a:t>Pedro </a:t>
            </a:r>
            <a:r>
              <a:rPr lang="en-US" sz="1000" dirty="0" err="1">
                <a:solidFill>
                  <a:srgbClr val="8B949E"/>
                </a:solidFill>
              </a:rPr>
              <a:t>Biain</a:t>
            </a:r>
            <a:r>
              <a:rPr lang="en-US" sz="1000" dirty="0">
                <a:solidFill>
                  <a:srgbClr val="8B949E"/>
                </a:solidFill>
              </a:rPr>
              <a:t>  -  Silver Trush </a:t>
            </a:r>
            <a:r>
              <a:rPr lang="en-US" sz="1000" dirty="0" err="1">
                <a:solidFill>
                  <a:srgbClr val="8B949E"/>
                </a:solidFill>
              </a:rPr>
              <a:t>Consultin</a:t>
            </a:r>
            <a:r>
              <a:rPr lang="en-US" sz="1000" dirty="0">
                <a:solidFill>
                  <a:srgbClr val="8B949E"/>
                </a:solidFill>
              </a:rPr>
              <a:t>g</a:t>
            </a:r>
            <a:endParaRPr lang="en-US" sz="1000" dirty="0">
              <a:solidFill>
                <a:srgbClr val="8B949E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9E75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Chleo runs a 50-truck haulage company in Spain.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She gets one fuel bill at month-end. That's all.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201168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645920"/>
            <a:ext cx="201168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7517"/>
                </a:solidFill>
              </a:rPr>
              <a:t>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2331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visibility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788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Can't see which trucks or routes are burning excess fuel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645920"/>
            <a:ext cx="201168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645920"/>
            <a:ext cx="201168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7517"/>
                </a:solidFill>
              </a:rPr>
              <a:t>!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2331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Month-end surprises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788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Anomalies discovered too late to act 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645920"/>
            <a:ext cx="201168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645920"/>
            <a:ext cx="201168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7517"/>
                </a:solidFill>
              </a:rPr>
              <a:t>$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36592" y="2331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Margin erosion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36592" y="2788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Fuel is 30-35% of costs on a 2-3% net margin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03136" y="1645920"/>
            <a:ext cx="201168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3136" y="1645920"/>
            <a:ext cx="201168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7517"/>
                </a:solidFill>
              </a:rPr>
              <a:t>x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12864" y="2331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Manual chaos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12864" y="2788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Dispatch runs on calls, WhatsApp, and Excel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1A1F27"/>
          </a:solidFill>
          <a:ln w="12700">
            <a:solidFill>
              <a:srgbClr val="30363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9E75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Three use cases. Phased. Transparent. Built on data you already have.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9601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27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98448" y="1527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Fuel Dashboard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8448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</a:rPr>
              <a:t>Tableau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152704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Real-time fuel anomaly detection per truck, driver, and route. Built on your existing TMS and fuel card 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82296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32888"/>
            <a:ext cx="64008" cy="9601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426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34AB7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98448" y="2642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Ops Alerts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8448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</a:rPr>
              <a:t>n8n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2642616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Daily automated alerts when a truck burns 20%+ above average. Email, Google Sheets, Airtable — zero manual work.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48456"/>
            <a:ext cx="82296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48456"/>
            <a:ext cx="64008" cy="9601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581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7517"/>
                </a:solidFill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98448" y="37581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Insights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8448" y="4151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7517"/>
                </a:solidFill>
              </a:rPr>
              <a:t>LangSmith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375818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Weekly natural language insights from the fleet data. Every AI decision logged and auditable — full transparency.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0332" y="411911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9E75"/>
                </a:solidFill>
              </a:rPr>
              <a:t>TABLEAU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0332" y="863245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Fleet Cost Intelligence Dashboard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0" y="1280160"/>
            <a:ext cx="24688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9E75"/>
                </a:solidFill>
              </a:rPr>
              <a:t>€901k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1828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Total fuel spend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468880"/>
            <a:ext cx="24688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9E75"/>
                </a:solidFill>
              </a:rPr>
              <a:t>Truck 17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3017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Top anomaly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657600"/>
            <a:ext cx="24688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9E75"/>
                </a:solidFill>
              </a:rPr>
              <a:t>3 charts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37960" y="4206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One view</a:t>
            </a:r>
            <a:endParaRPr lang="en-US" sz="1100" dirty="0"/>
          </a:p>
        </p:txBody>
      </p:sp>
      <p:pic>
        <p:nvPicPr>
          <p:cNvPr id="16" name="Picture 15" descr="A screenshot of a graph&#10;&#10;AI-generated content may be incorrect.">
            <a:extLst>
              <a:ext uri="{FF2B5EF4-FFF2-40B4-BE49-F238E27FC236}">
                <a16:creationId xmlns:a16="http://schemas.microsoft.com/office/drawing/2014/main" id="{8C97C383-AEEF-407A-FAA7-B97D23245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54" y="1495339"/>
            <a:ext cx="5736567" cy="3134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34AB7"/>
                </a:solidFill>
              </a:rPr>
              <a:t>N8N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64898" y="59367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Fuel Anomaly Alert — runs every morning at 8am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749040"/>
            <a:ext cx="13258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3794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Schedule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4178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Daily 8am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3749040"/>
            <a:ext cx="13258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3794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HTTP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10512" y="4178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Read CSV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3749040"/>
            <a:ext cx="13258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3794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JavaScript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73552" y="4178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Detect anomalies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749040"/>
            <a:ext cx="13258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3794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IF node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4178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Route alerts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13258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3794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Gmail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9632" y="4178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Email alert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3749040"/>
            <a:ext cx="13258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3794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Sheets + Airtable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62672" y="4178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Log records</a:t>
            </a:r>
            <a:endParaRPr lang="en-US" sz="1000" dirty="0"/>
          </a:p>
        </p:txBody>
      </p: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DF454C-B84A-E7E5-4D72-01F15A424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185" y="1218481"/>
            <a:ext cx="4528150" cy="2318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2323" y="4442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A7517"/>
                </a:solidFill>
              </a:rPr>
              <a:t>LANGSMITH MONITORING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2323" y="626019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Proof that AI is not a black box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824556" y="1312509"/>
            <a:ext cx="1600200" cy="2387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07436" y="1358229"/>
            <a:ext cx="644394" cy="12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9E75"/>
                </a:solidFill>
              </a:rPr>
              <a:t>0.94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007436" y="1742277"/>
            <a:ext cx="1385403" cy="7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Insight quality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02225" y="1347619"/>
            <a:ext cx="1600200" cy="2387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85105" y="1393339"/>
            <a:ext cx="644394" cy="12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9E75"/>
                </a:solidFill>
              </a:rPr>
              <a:t>1.00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185105" y="1777387"/>
            <a:ext cx="1385403" cy="7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Actionability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25980" y="1328813"/>
            <a:ext cx="1600200" cy="2387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08860" y="1374533"/>
            <a:ext cx="644394" cy="12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7517"/>
                </a:solidFill>
              </a:rPr>
              <a:t>2.3s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308860" y="1758581"/>
            <a:ext cx="1385403" cy="7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Response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9735" y="1299224"/>
            <a:ext cx="1600200" cy="2387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615" y="1344944"/>
            <a:ext cx="644394" cy="136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949E"/>
                </a:solidFill>
              </a:rPr>
              <a:t>10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615" y="1728992"/>
            <a:ext cx="1385403" cy="66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Examples tested</a:t>
            </a:r>
            <a:endParaRPr lang="en-US" sz="11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08226F-6C4D-3A84-C438-1BAE83C2D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08" y="1991898"/>
            <a:ext cx="8022567" cy="29820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9E75"/>
                </a:solidFill>
              </a:rPr>
              <a:t>BUSINESS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numbers make the case for themselves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280160"/>
            <a:ext cx="2743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26480" y="1280160"/>
            <a:ext cx="64008" cy="7132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325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€20k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309360" y="17099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Total setup cost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2167128"/>
            <a:ext cx="2743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26480" y="2167128"/>
            <a:ext cx="64008" cy="7132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€55.6k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309360" y="25968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Year 1 net saving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3054096"/>
            <a:ext cx="2743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26480" y="3054096"/>
            <a:ext cx="64008" cy="7132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30998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178%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309360" y="34838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Year 1 ROI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3941064"/>
            <a:ext cx="2743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26480" y="3941064"/>
            <a:ext cx="64008" cy="7132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39867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4.3 mo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309360" y="4370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Payback period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9E75"/>
                </a:solidFill>
              </a:rPr>
              <a:t>IMPLEMENTATION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24 weeks. Phased. Starting with quick wins.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274320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</a:rPr>
              <a:t>Phase 1 — UC2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Weeks 1–4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Ops alerts only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n8n automated alerts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44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Gmail + Sheets + Airtable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3924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Payback in 9 days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434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9E75"/>
                </a:solidFill>
              </a:rPr>
              <a:t>€2,500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82112" y="1371600"/>
            <a:ext cx="27432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371600"/>
            <a:ext cx="2743200" cy="640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4AB7"/>
                </a:solidFill>
              </a:rPr>
              <a:t>Phase 2 — UC1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9272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Weeks 5–12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9272" y="2212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Fuel dashboard + AI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19272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Tableau dashboard live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9272" y="3044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AI insight 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9272" y="33924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LangSmith monitoring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9272" y="4434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34AB7"/>
                </a:solidFill>
              </a:rPr>
              <a:t>€10,000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89904" y="1371600"/>
            <a:ext cx="27432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9904" y="1371600"/>
            <a:ext cx="2743200" cy="640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7517"/>
                </a:solidFill>
              </a:rPr>
              <a:t>Phase 3 — UC3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27064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Weeks 13–24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27064" y="2212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Full optimisation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27064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Advanced LangGraph agent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27064" y="3044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Driver performance scoring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27064" y="33924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Predictive maintenance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27064" y="4434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A7517"/>
                </a:solidFill>
              </a:rPr>
              <a:t>€7,500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34910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AI IS NOT A BLACK BOX.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</a:rPr>
              <a:t>It's a system with inputs, outputs, and full observability.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651760"/>
            <a:ext cx="265176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788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9E75"/>
                </a:solidFill>
              </a:rPr>
              <a:t>Transparent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Every AI decision logged in LangSmith — input, output, score, latency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2651760"/>
            <a:ext cx="265176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788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9E75"/>
                </a:solidFill>
              </a:rPr>
              <a:t>Measurable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3756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0.94 insight quality score across 10 evaluated examples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651760"/>
            <a:ext cx="265176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788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9E75"/>
                </a:solidFill>
              </a:rPr>
              <a:t>Profitable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7220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178% ROI in year 1. Payback in 4.3 months on a 50-truck fleet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Pedro Biain  |  SilverTrust AI Consulting  |  pbiain@gmail.com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 Cost Intelligence — Chleo SME</dc:title>
  <dc:subject>PptxGenJS Presentation</dc:subject>
  <dc:creator>Pedro Biain</dc:creator>
  <cp:lastModifiedBy>Pedro Biain</cp:lastModifiedBy>
  <cp:revision>102</cp:revision>
  <dcterms:created xsi:type="dcterms:W3CDTF">2026-03-22T23:00:59Z</dcterms:created>
  <dcterms:modified xsi:type="dcterms:W3CDTF">2026-03-23T13:55:37Z</dcterms:modified>
</cp:coreProperties>
</file>