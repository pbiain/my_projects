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457200" cy="6858000"/>
          </a:xfrm>
          <a:prstGeom prst="rect">
            <a:avLst/>
          </a:prstGeom>
          <a:solidFill>
            <a:srgbClr val="16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C9A227"/>
                </a:solidFill>
                <a:latin typeface="Segoe UI"/>
              </a:rPr>
              <a:t>VAULTGUARD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Segoe UI"/>
              </a:rPr>
              <a:t>AI BILLING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337560"/>
            <a:ext cx="393192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Segoe UI"/>
              </a:rPr>
              <a:t>Automating invoice billing decisions with GPT-4o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Segoe UI"/>
              </a:rPr>
              <a:t>By Pedro Biain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Segoe UI"/>
              </a:rPr>
              <a:t>COMPANY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Segoe UI"/>
              </a:rPr>
              <a:t>VaultGuard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Segoe UI"/>
              </a:rPr>
              <a:t>The scale of 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56032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A07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Segoe UI"/>
              </a:rPr>
              <a:t>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227"/>
                </a:solidFill>
                <a:latin typeface="Segoe UI"/>
              </a:rPr>
              <a:t>100,000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Segoe UI"/>
              </a:rPr>
              <a:t>Smart safes deployed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828800"/>
            <a:ext cx="256032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A07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011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Segoe UI"/>
              </a:rPr>
              <a:t>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227"/>
                </a:solidFill>
                <a:latin typeface="Segoe UI"/>
              </a:rPr>
              <a:t>40,000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Segoe UI"/>
              </a:rPr>
              <a:t>Service calls /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256032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A07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Segoe UI"/>
              </a:rP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227"/>
                </a:solidFill>
                <a:latin typeface="Segoe UI"/>
              </a:rPr>
              <a:t>8,000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Segoe UI"/>
              </a:rPr>
              <a:t>Technician visits / year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828800"/>
            <a:ext cx="256032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A07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011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227"/>
                </a:solidFill>
                <a:latin typeface="Segoe UI"/>
              </a:rPr>
              <a:t>8,000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Segoe UI"/>
              </a:rPr>
              <a:t>Billing decisions /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Segoe UI"/>
              </a:rPr>
              <a:t>Each billing decision: should the client be charged for this maintenance call or does VaultGuard absorb the cost?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Segoe U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Segoe UI"/>
              </a:rPr>
              <a:t>667 decisions a month — made by hand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01168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667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invoices /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28800"/>
            <a:ext cx="201168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874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80h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manual work / 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828800"/>
            <a:ext cx="201168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874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7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per invoice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828800"/>
            <a:ext cx="201168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874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74C3C"/>
                </a:solidFill>
                <a:latin typeface="Segoe U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consistency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017520"/>
            <a:ext cx="5029200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12724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Process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0156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Biller reads each PDF invoice manually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63931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Checks OOS category against contract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77056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Enters YES/NO + GL code in Oracle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148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No audit trail — decisions vary by 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017520"/>
            <a:ext cx="5303520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12724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40156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5% error rate -&gt; $100K/yr in missed billings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639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80 hrs/month of high-skill manual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87705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No consistency check — decisions vary by individual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114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Zero visibility for ops or finance teams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Segoe UI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Segoe UI"/>
              </a:rPr>
              <a:t>AI-powered billing in under 2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92024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  <a:latin typeface="Segoe UI"/>
              </a:rPr>
              <a:t>Receive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Email with PDF invoices arrives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828800"/>
            <a:ext cx="192024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23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  <a:latin typeface="Segoe UI"/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GPT-4o reads image-based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828800"/>
            <a:ext cx="192024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423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  <a:latin typeface="Segoe UI"/>
              </a:rP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YES/NO + GL code + reason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828800"/>
            <a:ext cx="192024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⚖️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423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  <a:latin typeface="Segoe UI"/>
              </a:rPr>
              <a:t>Judge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Second LLM audits every 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828800"/>
            <a:ext cx="192024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423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  <a:latin typeface="Segoe UI"/>
              </a:rPr>
              <a:t>Deliver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Two CSVs emailed to billing team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749039"/>
            <a:ext cx="1051560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840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Time spent on invoice classification — before vs after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Segoe UI"/>
              </a:rPr>
              <a:t>Before:  80 hrs / month   (4 hrs/day × 20 working days)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63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4C99A"/>
                </a:solidFill>
                <a:latin typeface="Segoe UI"/>
              </a:rPr>
              <a:t>After:   7 hrs / month    (AI handles 92% — human reviews flagged only)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Segoe UI"/>
              </a:rPr>
              <a:t>91% reduction in manual classification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Segoe UI"/>
              </a:rPr>
              <a:t>PROOF OF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Segoe UI"/>
              </a:rPr>
              <a:t>What the POC demonstrates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Reads image-based PDF invoices via GPT-4o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505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Extracts 18 structured fields per 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88336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Classifies YES/NO with confidence + key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Second LLM independently audits every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63824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Delivers two formatted spreadsheets by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0156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Logs all decisions to LangSmith for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3931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GDPR: PII pseudonymised before every LLM 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828800"/>
            <a:ext cx="265176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8745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A227"/>
                </a:solidFill>
                <a:latin typeface="Segoe UI"/>
              </a:rPr>
              <a:t>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accuracy vs human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880360"/>
            <a:ext cx="265176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926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4C99A"/>
                </a:solidFill>
                <a:latin typeface="Segoe U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429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dangerous errors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931920"/>
            <a:ext cx="265176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9776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2×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480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LLM calls / invoice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983480"/>
            <a:ext cx="265176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5029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&lt;2s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532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per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77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Segoe UI"/>
              </a:rPr>
              <a:t>▶  See live n8n workflow demo in the HTML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Segoe UI"/>
              </a:rPr>
              <a:t>RETURN ON INVESTMENT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Segoe UI"/>
              </a:rPr>
              <a:t>The financial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0515600" cy="32918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653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99999"/>
                </a:solidFill>
                <a:latin typeface="Segoe UI"/>
              </a:rPr>
              <a:t>Cost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653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99999"/>
                </a:solidFill>
                <a:latin typeface="Segoe UI"/>
              </a:rPr>
              <a:t>Manual (Today)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8653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99999"/>
                </a:solidFill>
                <a:latin typeface="Segoe UI"/>
              </a:rPr>
              <a:t>With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1051560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311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Invoices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311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667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311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667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60320"/>
            <a:ext cx="10515600" cy="3474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968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Manual review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596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80 hrs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968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7 hrs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26080"/>
            <a:ext cx="1051560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626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Biller cost / year ($50/hr)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962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74C3C"/>
                </a:solidFill>
                <a:latin typeface="Segoe UI"/>
              </a:rPr>
              <a:t>$50,000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962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4C99A"/>
                </a:solidFill>
                <a:latin typeface="Segoe UI"/>
              </a:rPr>
              <a:t>$4,200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291840"/>
            <a:ext cx="10515600" cy="3474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3284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Missed billings / year (5% error rate)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3284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74C3C"/>
                </a:solidFill>
                <a:latin typeface="Segoe UI"/>
              </a:rPr>
              <a:t>~$100,000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3284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4C99A"/>
                </a:solidFill>
                <a:latin typeface="Segoe UI"/>
              </a:rPr>
              <a:t>~$40,000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657600"/>
            <a:ext cx="1051560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6941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hosting (Railway)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6941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6941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4C99A"/>
                </a:solidFill>
                <a:latin typeface="Segoe UI"/>
              </a:rPr>
              <a:t>$600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023360"/>
            <a:ext cx="10515600" cy="3474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0599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4C99A"/>
                </a:solidFill>
                <a:latin typeface="Segoe UI"/>
              </a:rPr>
              <a:t>Net annual savings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0599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C99A"/>
                </a:solidFill>
                <a:latin typeface="Segoe U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599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C99A"/>
                </a:solidFill>
                <a:latin typeface="Segoe UI"/>
              </a:rPr>
              <a:t>$105,200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120640"/>
            <a:ext cx="246888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66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4C99A"/>
                </a:solidFill>
                <a:latin typeface="Segoe UI"/>
              </a:rPr>
              <a:t>$105K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69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saved in year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5120640"/>
            <a:ext cx="246888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5166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4C99A"/>
                </a:solidFill>
                <a:latin typeface="Segoe UI"/>
              </a:rPr>
              <a:t>$315K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669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saved over 3 years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5120640"/>
            <a:ext cx="246888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5166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~0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669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months to break even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5120640"/>
            <a:ext cx="246888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5166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91%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669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less manual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Segoe UI"/>
              </a:rPr>
              <a:t>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Segoe UI"/>
              </a:rPr>
              <a:t>Risks and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1206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⚠️ AI Misclassification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8% error rate on current eval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50592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LLM-as-judge catches 80% of classifier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8833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All LOW confidence + DISAGREE verdicts flagged for human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Monthly accuracy benchmarks via evaluate_historical.py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51206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3852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🔒 Data Privacy (GDPR)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21284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Customer PII pseudonymised before any LLM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50592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SHA-256 consistent token — same client always same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68833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Only extraction step (PDF-&gt;fields) sends raw data to OpenAI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9260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All other LLM calls receive sanitised invoice data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51206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0740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🔌 Vendor Lock-in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8172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OpenAI model can be swapped — prompt is model-agnostic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19472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n8n workflows are portable (JSON export)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5721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LangSmith traces exportable to 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9496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FastAPI + Railway replaceable with any cloud host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297680"/>
            <a:ext cx="51206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40740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📈 Accuracy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68172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Billing rules change -&gt; system prompt updated centrally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919472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LangSmith dataset grows with each live invoice processed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15721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Historical eval re-run on demand to detect drift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39496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Judge disagreement rate is the early-warning signal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Segoe UI"/>
              </a:rPr>
              <a:t>COMPLIANCE &amp; LEGAL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Segoe UI"/>
              </a:rPr>
              <a:t>Built with compliance in mind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12064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Segoe UI"/>
              </a:rPr>
              <a:t>🔐 GDPR Article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Segoe UI"/>
              </a:rPr>
              <a:t>Privacy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78608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Segoe UI"/>
              </a:rPr>
              <a:t>PII pseudonymised with SHA-256 before every LLM call. Customer name, address, and contact details never leave the system boundary. Only the extraction step sends raw PDF images to OpenAI — all subsequent steps operate on sanitised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12064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9385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Segoe UI"/>
              </a:rPr>
              <a:t>⚖️ Human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Segoe UI"/>
              </a:rPr>
              <a:t>No fully automated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578608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Segoe UI"/>
              </a:rPr>
              <a:t>Every LOW-confidence or judge-DISAGREE invoice is escalated to a human reviewer. The AI is advisory — final decisions remain with the biller. This satisfies GDPR Article 22 (right not to be subject to fully automated decisions).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512064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159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Segoe UI"/>
              </a:rPr>
              <a:t>📋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Segoe UI"/>
              </a:rPr>
              <a:t>Full traceability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56048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Segoe UI"/>
              </a:rPr>
              <a:t>Every classification logged to LangSmith with: invoice ID, AI decision, confidence, judge verdict, and human decision (when known). Queryable dataset maintained for compliance review or dispute resolution.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206240"/>
            <a:ext cx="512064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3159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Segoe UI"/>
              </a:rPr>
              <a:t>🏢 Contract Alignment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663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Segoe UI"/>
              </a:rPr>
              <a:t>White Glove Service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956048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Segoe UI"/>
              </a:rPr>
              <a:t>Billing rules are derived directly from VaultGuard's service contract. System prompt reviewed and approved by billing team before deployment. Any contract change triggers a prompt update and re-evaluation.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Segoe UI"/>
              </a:rPr>
              <a:t>STRATEGIC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Segoe UI"/>
              </a:rPr>
              <a:t>Three-phase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474720" cy="3840480"/>
          </a:xfrm>
          <a:prstGeom prst="rect">
            <a:avLst/>
          </a:prstGeom>
          <a:solidFill>
            <a:srgbClr val="1A1A1A"/>
          </a:solidFill>
          <a:ln w="12700">
            <a:solidFill>
              <a:srgbClr val="A07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747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Segoe UI"/>
              </a:rPr>
              <a:t>Phase 1 — Parallel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Segoe UI"/>
              </a:rPr>
              <a:t>Months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AI runs alongside current biller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All AI decisions logged vs human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5526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Accuracy target: &gt;90% before go-live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11296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Biller works as normal — AI in shadow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1828800"/>
            <a:ext cx="3474720" cy="3840480"/>
          </a:xfrm>
          <a:prstGeom prst="rect">
            <a:avLst/>
          </a:prstGeom>
          <a:solidFill>
            <a:srgbClr val="1A1A1A"/>
          </a:solidFill>
          <a:ln w="12700">
            <a:solidFill>
              <a:srgbClr val="A07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1828800"/>
            <a:ext cx="34747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19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Segoe UI"/>
              </a:rPr>
              <a:t>Phase 2 — Supervised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2359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Segoe UI"/>
              </a:rPr>
              <a:t>Months 4–6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2743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AI takes all HIGH-confidence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19" y="299923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Human reviews MEDIUM / LOW / flagged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325526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~80% reduction in manual review volume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19" y="3511296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LangSmith dashboard visible to biller + 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598" y="1828800"/>
            <a:ext cx="3474720" cy="3840480"/>
          </a:xfrm>
          <a:prstGeom prst="rect">
            <a:avLst/>
          </a:prstGeom>
          <a:solidFill>
            <a:srgbClr val="1A1A1A"/>
          </a:solidFill>
          <a:ln w="12700">
            <a:solidFill>
              <a:srgbClr val="A07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598" y="1828800"/>
            <a:ext cx="34747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58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Segoe UI"/>
              </a:rPr>
              <a:t>Phase 3 — Full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8" y="2359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Segoe UI"/>
              </a:rPr>
              <a:t>Month 7+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8" y="2743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Human reviews flagged cases only (&lt;10%)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8" y="299923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Monthly accuracy benchmark vs ground truth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8" y="325526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Quarterly billing rule review + prompt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8" y="3511296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Dashboard visible to billing, ops, and finance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Segoe UI"/>
              </a:rPr>
              <a:t>MVP — WHAT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Segoe UI"/>
              </a:rPr>
              <a:t>Beyond the POC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2560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POC -&gt; MVP upgrades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LLM-as-judge: second AI audits every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505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judge_verdict + judge_reason in API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88336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GDPR: PII pseudonymised at model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Historical accuracy eval against 89 real invoices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63824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Markdown fence bug fixed (was causing 68% silent failures)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0156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Refined billing rules: coin tube jams + unplugged modems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502920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8172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Evaluation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5604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evaluate_historical.py — benchmarks AI vs human on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937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3 LangSmith metrics: decision_correct, confidence_appropriate, judge_agrees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31536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No human labelling needed — LLM evaluates 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539496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8745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A227"/>
                </a:solidFill>
                <a:latin typeface="Segoe UI"/>
              </a:rPr>
              <a:t>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377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accuracy on 50 historical invoices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880360"/>
            <a:ext cx="539496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9260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4C99A"/>
                </a:solidFill>
                <a:latin typeface="Segoe U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4290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dangerous errors (HIGH confidence + wrong)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931920"/>
            <a:ext cx="539496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9776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2×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4805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LLM calls — classifier + independent judge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983480"/>
            <a:ext cx="539496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50292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A227"/>
                </a:solidFill>
                <a:latin typeface="Segoe UI"/>
              </a:rPr>
              <a:t>$0.004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5321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cost per invoice classified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Segoe UI"/>
              </a:rPr>
              <a:t>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Segoe UI"/>
              </a:rPr>
              <a:t>Future Product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2918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29184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Technician 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517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Segoe UI"/>
              </a:rPr>
              <a:t>Scan safe QR on arrival — see service history, warranty status, correct OOS category. Reduces misclassification at source.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749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9A227"/>
                </a:solidFill>
                <a:latin typeface="Segoe UI"/>
              </a:rPr>
              <a:t>NEW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2918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329184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Operations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6517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Segoe UI"/>
              </a:rPr>
              <a:t>Unified control centre: invoice pipeline, AI accuracy, flagged cases, warranty alerts, fraud hotspots, predictive maintenance queue, SaaS health.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749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9A227"/>
                </a:solidFill>
                <a:latin typeface="Segoe UI"/>
              </a:rPr>
              <a:t>VISIBILITY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828800"/>
            <a:ext cx="32918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1828800"/>
            <a:ext cx="329184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Warranty &amp; Replacement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26517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Segoe UI"/>
              </a:rPr>
              <a:t>Proactive alerts when a safe approaches end-of-warranty. Auto-suspend guarantees before expiry — prevents incorrect NO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3749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9A227"/>
                </a:solidFill>
                <a:latin typeface="Segoe UI"/>
              </a:rPr>
              <a:t>RISK REDUCTION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297680"/>
            <a:ext cx="32918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297680"/>
            <a:ext cx="329184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🕵️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773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Fraud &amp; Abuse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1206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Segoe UI"/>
              </a:rPr>
              <a:t>Pattern analysis across invoices to flag locations with abnormal damage rates — vandalism hotspots, repeated liquid claims, bad OOS logging.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2179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9A227"/>
                </a:solidFill>
                <a:latin typeface="Segoe UI"/>
              </a:rPr>
              <a:t>FRAUD PREVENTION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297680"/>
            <a:ext cx="32918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297680"/>
            <a:ext cx="329184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773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Predictive Maintenance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51206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Segoe UI"/>
              </a:rPr>
              <a:t>Historical invoice data predicts which safes will fail next — by model, age, location. Schedule preventive visits before breakdown.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62179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9A227"/>
                </a:solidFill>
                <a:latin typeface="Segoe UI"/>
              </a:rPr>
              <a:t>COST AVOIDANCE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4297680"/>
            <a:ext cx="32918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63840" y="4297680"/>
            <a:ext cx="329184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4773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Multi-Client SaaS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51206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Segoe UI"/>
              </a:rPr>
              <a:t>White-label the billing classifier for other cash management operators — ATM networks, parking meters, vending machine fleets.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62179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9A227"/>
                </a:solidFill>
                <a:latin typeface="Segoe UI"/>
              </a:rPr>
              <a:t>COMMERCIALISATION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Segoe U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Segoe UI"/>
              </a:rPr>
              <a:t>VaultGuard AI — the case in three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47472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A227"/>
                </a:solidFill>
                <a:latin typeface="Segoe UI"/>
              </a:rPr>
              <a:t>92%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accuracy vs experienced human biller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011680"/>
            <a:ext cx="347472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4C99A"/>
                </a:solidFill>
                <a:latin typeface="Segoe UI"/>
              </a:rPr>
              <a:t>$105K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net savings in year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8" y="2011680"/>
            <a:ext cx="347472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8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91%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8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Segoe UI"/>
              </a:rPr>
              <a:t>reduction in manual classification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91840"/>
            <a:ext cx="502920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0156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Why this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7588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GPT-4o understands the nuance in technician notes that simple rules miss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1363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LLM-as-judge eliminates need for human QC on routine invoices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51376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Full audit trail — every decision is traceable, explainable, and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891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Accuracy improves over time as the evaluation dataset grows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26864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Zero infrastructure investment — n8n + Railway + OpenAI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291840"/>
            <a:ext cx="530352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40156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What was built in this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67588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FastAPI on Railway — production REST endpoint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91363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n8n Cloud — end-to-end invoice automation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15137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GPT-4o classifier + LLM-as-judge (2 LLM calls per invoice)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3891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LangSmith tracing + historical evaluation 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626864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Segoe UI"/>
              </a:rPr>
              <a:t>• Tested against 50 real 2025 invoices: 92% accuracy, 0 dangerous errors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